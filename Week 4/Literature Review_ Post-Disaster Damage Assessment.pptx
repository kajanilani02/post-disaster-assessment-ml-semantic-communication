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Lato" panose="020F0502020204030203" pitchFamily="34" charset="0"/>
      <p:regular r:id="rId15"/>
      <p:bold r:id="rId16"/>
      <p:italic r:id="rId17"/>
      <p:boldItalic r:id="rId18"/>
    </p:embeddedFont>
    <p:embeddedFont>
      <p:font typeface="Poppins" panose="00000500000000000000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8A915FA-02E7-457C-986E-7FB5CE50CD2B}">
  <a:tblStyle styleId="{08A915FA-02E7-457C-986E-7FB5CE50CD2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5619750" y="1626989"/>
            <a:ext cx="952500" cy="571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575309" y="1969889"/>
            <a:ext cx="11041380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Literature Review: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5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 Post-Disaster Damage Assessment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005137" y="3417689"/>
            <a:ext cx="6181725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Integration of Machine Learning and Semantic Communication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3938587" y="4594919"/>
            <a:ext cx="43148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Final Year Project Analysis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3938587" y="4960590"/>
            <a:ext cx="43148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Focus: Dataset Creation, Annotation, and Imbalance Management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7" name="Google Shape;97;p14"/>
          <p:cNvGraphicFramePr/>
          <p:nvPr/>
        </p:nvGraphicFramePr>
        <p:xfrm>
          <a:off x="666750" y="1681608"/>
          <a:ext cx="10858500" cy="4228250"/>
        </p:xfrm>
        <a:graphic>
          <a:graphicData uri="http://schemas.openxmlformats.org/drawingml/2006/table">
            <a:tbl>
              <a:tblPr firstRow="1" bandRow="1">
                <a:noFill/>
                <a:tableStyleId>{08A915FA-02E7-457C-986E-7FB5CE50CD2B}</a:tableStyleId>
              </a:tblPr>
              <a:tblGrid>
                <a:gridCol w="304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18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Paper Title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 Machine Learning Approach for Post-Disaster Data Curation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Author(s)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Sun Ho Ro, Yitong Li, Jie Gong (Rutgers University)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Main Goal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Automate labeling and classification of large disaster image volumes using NLP and CV.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Damage Event / Year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Hurricane Harvey | 2024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Published Journal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Elsevier (Advanced Engineering Informatics context)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Dataset Type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Ground-level residential building panoramic images from StEER / reconnaissance.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Annotation Tool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AWS Rekognition API and Google Cloud Vision API for automated secondary labeling.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Imbalance Management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Dictionary/ontology filtering (dropping irrelevant labels like "lobster" or "pilot").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Classification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 primary labels: Entity, Hazard, Image Type, Land Use, Building Component.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Dataset Split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N/A (Leverages zero-shot / pre-trained models); 160 expert images for verification.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8" name="Google Shape;98;p14"/>
          <p:cNvSpPr/>
          <p:nvPr/>
        </p:nvSpPr>
        <p:spPr>
          <a:xfrm>
            <a:off x="666750" y="2075854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3707010" y="2085379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666750" y="2498675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3707010" y="2508200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666750" y="2921496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3707010" y="2931021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666750" y="3344316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3707010" y="3353841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666750" y="3767137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3707010" y="3776662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666750" y="4189958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3707010" y="4199483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666750" y="4612778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3707010" y="4622303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/>
          <p:nvPr/>
        </p:nvSpPr>
        <p:spPr>
          <a:xfrm>
            <a:off x="666750" y="5035599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/>
          <p:nvPr/>
        </p:nvSpPr>
        <p:spPr>
          <a:xfrm>
            <a:off x="3707010" y="5045124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4"/>
          <p:cNvSpPr/>
          <p:nvPr/>
        </p:nvSpPr>
        <p:spPr>
          <a:xfrm>
            <a:off x="666750" y="5458420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4"/>
          <p:cNvSpPr/>
          <p:nvPr/>
        </p:nvSpPr>
        <p:spPr>
          <a:xfrm>
            <a:off x="3707010" y="5467945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4"/>
          <p:cNvSpPr/>
          <p:nvPr/>
        </p:nvSpPr>
        <p:spPr>
          <a:xfrm>
            <a:off x="666750" y="5881241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4"/>
          <p:cNvSpPr txBox="1"/>
          <p:nvPr/>
        </p:nvSpPr>
        <p:spPr>
          <a:xfrm>
            <a:off x="666750" y="824358"/>
            <a:ext cx="1140142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Paper 1: Post-Disaster Data Curation</a:t>
            </a:r>
            <a:endParaRPr/>
          </a:p>
        </p:txBody>
      </p:sp>
      <p:sp>
        <p:nvSpPr>
          <p:cNvPr id="118" name="Google Shape;118;p14"/>
          <p:cNvSpPr/>
          <p:nvPr/>
        </p:nvSpPr>
        <p:spPr>
          <a:xfrm>
            <a:off x="666750" y="1376808"/>
            <a:ext cx="108585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5" name="Google Shape;125;p15"/>
          <p:cNvGraphicFramePr/>
          <p:nvPr/>
        </p:nvGraphicFramePr>
        <p:xfrm>
          <a:off x="666750" y="1681608"/>
          <a:ext cx="10858500" cy="4228250"/>
        </p:xfrm>
        <a:graphic>
          <a:graphicData uri="http://schemas.openxmlformats.org/drawingml/2006/table">
            <a:tbl>
              <a:tblPr firstRow="1" bandRow="1">
                <a:noFill/>
                <a:tableStyleId>{08A915FA-02E7-457C-986E-7FB5CE50CD2B}</a:tableStyleId>
              </a:tblPr>
              <a:tblGrid>
                <a:gridCol w="304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18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Paper Title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FloodNet: A High Resolution Aerial Imagery Dataset for Post Flood Scene Understanding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Author(s)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Maryam Rahnemoonfar, Tashnim Chowdhury, et al.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Main Goal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Establish a high-resolution UAV benchmark for classification, segmentation, and VQA.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Damage Event / Year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Hurricane Harvey | 2020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Published Journal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arXiv (Published later in IEEE Access 2021)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Dataset Type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High-resolution UAV (4000x3000) at 200ft AGL using DJI Mavic Pro.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Annotation Tool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V7 Darwin Platform for precise pixel-level manual masks.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Imbalance Management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Traditional image augmentation: Random shuffling, scaling, flipping, and large crop size (713x713).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Classification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Binary (Flooded/Non-Flooded) and 10 Semantic classes (Water, Tree, Vehicle, etc.).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Dataset Split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70% Training / 30% partitioned for Validation and Testing.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26" name="Google Shape;126;p15"/>
          <p:cNvSpPr/>
          <p:nvPr/>
        </p:nvSpPr>
        <p:spPr>
          <a:xfrm>
            <a:off x="666750" y="2075854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3707010" y="2085379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666750" y="2498675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3707010" y="2508200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/>
          <p:nvPr/>
        </p:nvSpPr>
        <p:spPr>
          <a:xfrm>
            <a:off x="666750" y="2921496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3707010" y="2931021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666750" y="3344316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/>
          <p:nvPr/>
        </p:nvSpPr>
        <p:spPr>
          <a:xfrm>
            <a:off x="3707010" y="3353841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/>
          <p:nvPr/>
        </p:nvSpPr>
        <p:spPr>
          <a:xfrm>
            <a:off x="666750" y="3767137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5"/>
          <p:cNvSpPr/>
          <p:nvPr/>
        </p:nvSpPr>
        <p:spPr>
          <a:xfrm>
            <a:off x="3707010" y="3776662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5"/>
          <p:cNvSpPr/>
          <p:nvPr/>
        </p:nvSpPr>
        <p:spPr>
          <a:xfrm>
            <a:off x="666750" y="4189958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5"/>
          <p:cNvSpPr/>
          <p:nvPr/>
        </p:nvSpPr>
        <p:spPr>
          <a:xfrm>
            <a:off x="3707010" y="4199483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666750" y="4612778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3707010" y="4622303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5"/>
          <p:cNvSpPr/>
          <p:nvPr/>
        </p:nvSpPr>
        <p:spPr>
          <a:xfrm>
            <a:off x="666750" y="5035599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5"/>
          <p:cNvSpPr/>
          <p:nvPr/>
        </p:nvSpPr>
        <p:spPr>
          <a:xfrm>
            <a:off x="3707010" y="5045124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5"/>
          <p:cNvSpPr/>
          <p:nvPr/>
        </p:nvSpPr>
        <p:spPr>
          <a:xfrm>
            <a:off x="666750" y="5458420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5"/>
          <p:cNvSpPr/>
          <p:nvPr/>
        </p:nvSpPr>
        <p:spPr>
          <a:xfrm>
            <a:off x="3707010" y="5467945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5"/>
          <p:cNvSpPr/>
          <p:nvPr/>
        </p:nvSpPr>
        <p:spPr>
          <a:xfrm>
            <a:off x="666750" y="5881241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5"/>
          <p:cNvSpPr txBox="1"/>
          <p:nvPr/>
        </p:nvSpPr>
        <p:spPr>
          <a:xfrm>
            <a:off x="666750" y="824358"/>
            <a:ext cx="1140142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Paper 2: FloodNet Framework</a:t>
            </a:r>
            <a:endParaRPr/>
          </a:p>
        </p:txBody>
      </p:sp>
      <p:sp>
        <p:nvSpPr>
          <p:cNvPr id="146" name="Google Shape;146;p15"/>
          <p:cNvSpPr/>
          <p:nvPr/>
        </p:nvSpPr>
        <p:spPr>
          <a:xfrm>
            <a:off x="666750" y="1376808"/>
            <a:ext cx="108585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6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3" name="Google Shape;153;p16"/>
          <p:cNvGraphicFramePr/>
          <p:nvPr/>
        </p:nvGraphicFramePr>
        <p:xfrm>
          <a:off x="666750" y="1681608"/>
          <a:ext cx="10858500" cy="4228250"/>
        </p:xfrm>
        <a:graphic>
          <a:graphicData uri="http://schemas.openxmlformats.org/drawingml/2006/table">
            <a:tbl>
              <a:tblPr firstRow="1" bandRow="1">
                <a:noFill/>
                <a:tableStyleId>{08A915FA-02E7-457C-986E-7FB5CE50CD2B}</a:tableStyleId>
              </a:tblPr>
              <a:tblGrid>
                <a:gridCol w="304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18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Paper Title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RescueNet: A High Resolution UAV Semantic Segmentation Dataset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Author(s)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Maryam Rahnemoonfar, Tashnim Chowdhury, Robin Murphy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Main Goal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Develop fine-grained multi-level building and road damage sub-categories for UAV imagery.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Damage Event / Year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Hurricane Michael | 2023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Published Journal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Scientific Data (Nature Portfolio)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Dataset Type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UAV DJI Mavic Pro captures (4000x3000) at varying low altitudes.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Annotation Tool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V7 Darwin Platform; experts manual polygon outline converted to masks.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Imbalance Management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Stratified Data Partitioning (splitting 80/10/10 *inside* neighborhood categories).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Classification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Neighborhood (Superficial, Medium, Major) and 10 Pixel Classes (Total Destruction included).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Dataset Split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80% Train (3,595) / 10% Valid (449) / 10% Test (450 images).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54" name="Google Shape;154;p16"/>
          <p:cNvSpPr/>
          <p:nvPr/>
        </p:nvSpPr>
        <p:spPr>
          <a:xfrm>
            <a:off x="666750" y="2075854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3707010" y="2085379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666750" y="2498675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3707010" y="2508200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666750" y="2921496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3707010" y="2931021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666750" y="3344316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6"/>
          <p:cNvSpPr/>
          <p:nvPr/>
        </p:nvSpPr>
        <p:spPr>
          <a:xfrm>
            <a:off x="3707010" y="3353841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6"/>
          <p:cNvSpPr/>
          <p:nvPr/>
        </p:nvSpPr>
        <p:spPr>
          <a:xfrm>
            <a:off x="666750" y="3767137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6"/>
          <p:cNvSpPr/>
          <p:nvPr/>
        </p:nvSpPr>
        <p:spPr>
          <a:xfrm>
            <a:off x="3707010" y="3776662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6"/>
          <p:cNvSpPr/>
          <p:nvPr/>
        </p:nvSpPr>
        <p:spPr>
          <a:xfrm>
            <a:off x="666750" y="4189958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6"/>
          <p:cNvSpPr/>
          <p:nvPr/>
        </p:nvSpPr>
        <p:spPr>
          <a:xfrm>
            <a:off x="3707010" y="4199483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6"/>
          <p:cNvSpPr/>
          <p:nvPr/>
        </p:nvSpPr>
        <p:spPr>
          <a:xfrm>
            <a:off x="666750" y="4612778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6"/>
          <p:cNvSpPr/>
          <p:nvPr/>
        </p:nvSpPr>
        <p:spPr>
          <a:xfrm>
            <a:off x="3707010" y="4622303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6"/>
          <p:cNvSpPr/>
          <p:nvPr/>
        </p:nvSpPr>
        <p:spPr>
          <a:xfrm>
            <a:off x="666750" y="5035599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6"/>
          <p:cNvSpPr/>
          <p:nvPr/>
        </p:nvSpPr>
        <p:spPr>
          <a:xfrm>
            <a:off x="3707010" y="5045124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666750" y="5458420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3707010" y="5467945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6"/>
          <p:cNvSpPr/>
          <p:nvPr/>
        </p:nvSpPr>
        <p:spPr>
          <a:xfrm>
            <a:off x="666750" y="5881241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6"/>
          <p:cNvSpPr txBox="1"/>
          <p:nvPr/>
        </p:nvSpPr>
        <p:spPr>
          <a:xfrm>
            <a:off x="666750" y="824358"/>
            <a:ext cx="1140142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Paper 3: RescueNet UAV Dataset</a:t>
            </a:r>
            <a:endParaRPr/>
          </a:p>
        </p:txBody>
      </p:sp>
      <p:sp>
        <p:nvSpPr>
          <p:cNvPr id="174" name="Google Shape;174;p16"/>
          <p:cNvSpPr/>
          <p:nvPr/>
        </p:nvSpPr>
        <p:spPr>
          <a:xfrm>
            <a:off x="666750" y="1376808"/>
            <a:ext cx="108585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7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1" name="Google Shape;181;p17"/>
          <p:cNvGraphicFramePr/>
          <p:nvPr/>
        </p:nvGraphicFramePr>
        <p:xfrm>
          <a:off x="666750" y="1681608"/>
          <a:ext cx="10858500" cy="4228250"/>
        </p:xfrm>
        <a:graphic>
          <a:graphicData uri="http://schemas.openxmlformats.org/drawingml/2006/table">
            <a:tbl>
              <a:tblPr firstRow="1" bandRow="1">
                <a:noFill/>
                <a:tableStyleId>{08A915FA-02E7-457C-986E-7FB5CE50CD2B}</a:tableStyleId>
              </a:tblPr>
              <a:tblGrid>
                <a:gridCol w="304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18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Paper Title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xBD: A Dataset for Assessing Building Damage from Satellite Imagery (Case Study)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Author(s)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Ritwik Gupta, et al.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Main Goal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Introduce the standardized Joint Damage Scale for cross-disaster ML assessment.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Damage Event / Year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19 global disasters (Earthquake, Flood, Wind, Fire) | 2019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Published Journal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CVPR Workshops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Dataset Type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High-resolution satellite EO RGB (&lt;0.8m GSD) from DigitalGlobe.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Annotation Tool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CrowdAI custom web platform; multi-expert verification loop.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Imbalance Management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Ordinal Cross-Entropy Loss to penalize distant class misclassification; Weighted F1 score.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Classification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 Ordinal Levels: No Damage, Minor Damage, Major Damage, Destroyed.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Dataset Split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80% Training / 10% Public Test / 10% Private Holdout.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82" name="Google Shape;182;p17"/>
          <p:cNvSpPr/>
          <p:nvPr/>
        </p:nvSpPr>
        <p:spPr>
          <a:xfrm>
            <a:off x="666750" y="2075854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7"/>
          <p:cNvSpPr/>
          <p:nvPr/>
        </p:nvSpPr>
        <p:spPr>
          <a:xfrm>
            <a:off x="3707010" y="2085379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7"/>
          <p:cNvSpPr/>
          <p:nvPr/>
        </p:nvSpPr>
        <p:spPr>
          <a:xfrm>
            <a:off x="666750" y="2498675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7"/>
          <p:cNvSpPr/>
          <p:nvPr/>
        </p:nvSpPr>
        <p:spPr>
          <a:xfrm>
            <a:off x="3707010" y="2508200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7"/>
          <p:cNvSpPr/>
          <p:nvPr/>
        </p:nvSpPr>
        <p:spPr>
          <a:xfrm>
            <a:off x="666750" y="2921496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7"/>
          <p:cNvSpPr/>
          <p:nvPr/>
        </p:nvSpPr>
        <p:spPr>
          <a:xfrm>
            <a:off x="3707010" y="2931021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7"/>
          <p:cNvSpPr/>
          <p:nvPr/>
        </p:nvSpPr>
        <p:spPr>
          <a:xfrm>
            <a:off x="666750" y="3344316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7"/>
          <p:cNvSpPr/>
          <p:nvPr/>
        </p:nvSpPr>
        <p:spPr>
          <a:xfrm>
            <a:off x="3707010" y="3353841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7"/>
          <p:cNvSpPr/>
          <p:nvPr/>
        </p:nvSpPr>
        <p:spPr>
          <a:xfrm>
            <a:off x="666750" y="3767137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7"/>
          <p:cNvSpPr/>
          <p:nvPr/>
        </p:nvSpPr>
        <p:spPr>
          <a:xfrm>
            <a:off x="3707010" y="3776662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7"/>
          <p:cNvSpPr/>
          <p:nvPr/>
        </p:nvSpPr>
        <p:spPr>
          <a:xfrm>
            <a:off x="666750" y="4189958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7"/>
          <p:cNvSpPr/>
          <p:nvPr/>
        </p:nvSpPr>
        <p:spPr>
          <a:xfrm>
            <a:off x="3707010" y="4199483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7"/>
          <p:cNvSpPr/>
          <p:nvPr/>
        </p:nvSpPr>
        <p:spPr>
          <a:xfrm>
            <a:off x="666750" y="4612778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7"/>
          <p:cNvSpPr/>
          <p:nvPr/>
        </p:nvSpPr>
        <p:spPr>
          <a:xfrm>
            <a:off x="3707010" y="4622303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7"/>
          <p:cNvSpPr/>
          <p:nvPr/>
        </p:nvSpPr>
        <p:spPr>
          <a:xfrm>
            <a:off x="666750" y="5035599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7"/>
          <p:cNvSpPr/>
          <p:nvPr/>
        </p:nvSpPr>
        <p:spPr>
          <a:xfrm>
            <a:off x="3707010" y="5045124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7"/>
          <p:cNvSpPr/>
          <p:nvPr/>
        </p:nvSpPr>
        <p:spPr>
          <a:xfrm>
            <a:off x="666750" y="5458420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7"/>
          <p:cNvSpPr/>
          <p:nvPr/>
        </p:nvSpPr>
        <p:spPr>
          <a:xfrm>
            <a:off x="3707010" y="5467945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7"/>
          <p:cNvSpPr/>
          <p:nvPr/>
        </p:nvSpPr>
        <p:spPr>
          <a:xfrm>
            <a:off x="666750" y="5881241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7"/>
          <p:cNvSpPr txBox="1"/>
          <p:nvPr/>
        </p:nvSpPr>
        <p:spPr>
          <a:xfrm>
            <a:off x="666750" y="824358"/>
            <a:ext cx="1140142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Paper 4: xBD Dataset Application</a:t>
            </a:r>
            <a:endParaRPr/>
          </a:p>
        </p:txBody>
      </p:sp>
      <p:sp>
        <p:nvSpPr>
          <p:cNvPr id="202" name="Google Shape;202;p17"/>
          <p:cNvSpPr/>
          <p:nvPr/>
        </p:nvSpPr>
        <p:spPr>
          <a:xfrm>
            <a:off x="666750" y="1376808"/>
            <a:ext cx="108585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8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9" name="Google Shape;209;p18"/>
          <p:cNvGraphicFramePr/>
          <p:nvPr/>
        </p:nvGraphicFramePr>
        <p:xfrm>
          <a:off x="666750" y="1681608"/>
          <a:ext cx="10858500" cy="4228250"/>
        </p:xfrm>
        <a:graphic>
          <a:graphicData uri="http://schemas.openxmlformats.org/drawingml/2006/table">
            <a:tbl>
              <a:tblPr firstRow="1" bandRow="1">
                <a:noFill/>
                <a:tableStyleId>{08A915FA-02E7-457C-986E-7FB5CE50CD2B}</a:tableStyleId>
              </a:tblPr>
              <a:tblGrid>
                <a:gridCol w="304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18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Paper Title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RSVLM-QA: A Benchmark Dataset for Vision Language Model-based Question Answering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Author(s)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Xing Zi, Xian Tao, et al.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Main Goal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Automate annotation for VQA in Remote Sensing using LLMs (GPT-4) and scene graphs.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Damage Event / Year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Generalized Earth Observation / Global Urban Landscapes | 2025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Published Journal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ACM Multimedia (MM '25)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Dataset Type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Synthesized from WHU, LoveDA, INRIA, and iSAID (Satellite/Aerial).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Annotation Tool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Dual-track AI Pipeline: GPT-4 narrative captions + programmatic counting extraction.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Imbalance Management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Intelligent Screening (GPT-4 flags ambiguity) + Expert human adjudication (14% filtered).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Classification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 Question Types: Spatial, Quantity, Presence, Features, Objects, Captions.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Dataset Split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Zero-shot evaluation repository (13,820 images, 162,373 unique QA pairs).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10" name="Google Shape;210;p18"/>
          <p:cNvSpPr/>
          <p:nvPr/>
        </p:nvSpPr>
        <p:spPr>
          <a:xfrm>
            <a:off x="666750" y="2075854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8"/>
          <p:cNvSpPr/>
          <p:nvPr/>
        </p:nvSpPr>
        <p:spPr>
          <a:xfrm>
            <a:off x="3707010" y="2085379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8"/>
          <p:cNvSpPr/>
          <p:nvPr/>
        </p:nvSpPr>
        <p:spPr>
          <a:xfrm>
            <a:off x="666750" y="2498675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8"/>
          <p:cNvSpPr/>
          <p:nvPr/>
        </p:nvSpPr>
        <p:spPr>
          <a:xfrm>
            <a:off x="3707010" y="2508200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8"/>
          <p:cNvSpPr/>
          <p:nvPr/>
        </p:nvSpPr>
        <p:spPr>
          <a:xfrm>
            <a:off x="666750" y="2921496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8"/>
          <p:cNvSpPr/>
          <p:nvPr/>
        </p:nvSpPr>
        <p:spPr>
          <a:xfrm>
            <a:off x="3707010" y="2931021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8"/>
          <p:cNvSpPr/>
          <p:nvPr/>
        </p:nvSpPr>
        <p:spPr>
          <a:xfrm>
            <a:off x="666750" y="3344316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8"/>
          <p:cNvSpPr/>
          <p:nvPr/>
        </p:nvSpPr>
        <p:spPr>
          <a:xfrm>
            <a:off x="3707010" y="3353841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8"/>
          <p:cNvSpPr/>
          <p:nvPr/>
        </p:nvSpPr>
        <p:spPr>
          <a:xfrm>
            <a:off x="666750" y="3767137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8"/>
          <p:cNvSpPr/>
          <p:nvPr/>
        </p:nvSpPr>
        <p:spPr>
          <a:xfrm>
            <a:off x="3707010" y="3776662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8"/>
          <p:cNvSpPr/>
          <p:nvPr/>
        </p:nvSpPr>
        <p:spPr>
          <a:xfrm>
            <a:off x="666750" y="4189958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8"/>
          <p:cNvSpPr/>
          <p:nvPr/>
        </p:nvSpPr>
        <p:spPr>
          <a:xfrm>
            <a:off x="3707010" y="4199483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8"/>
          <p:cNvSpPr/>
          <p:nvPr/>
        </p:nvSpPr>
        <p:spPr>
          <a:xfrm>
            <a:off x="666750" y="4612778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8"/>
          <p:cNvSpPr/>
          <p:nvPr/>
        </p:nvSpPr>
        <p:spPr>
          <a:xfrm>
            <a:off x="3707010" y="4622303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8"/>
          <p:cNvSpPr/>
          <p:nvPr/>
        </p:nvSpPr>
        <p:spPr>
          <a:xfrm>
            <a:off x="666750" y="5035599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8"/>
          <p:cNvSpPr/>
          <p:nvPr/>
        </p:nvSpPr>
        <p:spPr>
          <a:xfrm>
            <a:off x="3707010" y="5045124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8"/>
          <p:cNvSpPr/>
          <p:nvPr/>
        </p:nvSpPr>
        <p:spPr>
          <a:xfrm>
            <a:off x="666750" y="5458420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8"/>
          <p:cNvSpPr/>
          <p:nvPr/>
        </p:nvSpPr>
        <p:spPr>
          <a:xfrm>
            <a:off x="3707010" y="5467945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8"/>
          <p:cNvSpPr/>
          <p:nvPr/>
        </p:nvSpPr>
        <p:spPr>
          <a:xfrm>
            <a:off x="666750" y="5881241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8"/>
          <p:cNvSpPr txBox="1"/>
          <p:nvPr/>
        </p:nvSpPr>
        <p:spPr>
          <a:xfrm>
            <a:off x="666750" y="824358"/>
            <a:ext cx="1140142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Paper 5: RSVLM-QA Dataset</a:t>
            </a:r>
            <a:endParaRPr/>
          </a:p>
        </p:txBody>
      </p:sp>
      <p:sp>
        <p:nvSpPr>
          <p:cNvPr id="230" name="Google Shape;230;p18"/>
          <p:cNvSpPr/>
          <p:nvPr/>
        </p:nvSpPr>
        <p:spPr>
          <a:xfrm>
            <a:off x="666750" y="1376808"/>
            <a:ext cx="108585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9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7" name="Google Shape;237;p19"/>
          <p:cNvGraphicFramePr/>
          <p:nvPr/>
        </p:nvGraphicFramePr>
        <p:xfrm>
          <a:off x="666750" y="1681608"/>
          <a:ext cx="10858500" cy="4228250"/>
        </p:xfrm>
        <a:graphic>
          <a:graphicData uri="http://schemas.openxmlformats.org/drawingml/2006/table">
            <a:tbl>
              <a:tblPr firstRow="1" bandRow="1">
                <a:noFill/>
                <a:tableStyleId>{08A915FA-02E7-457C-986E-7FB5CE50CD2B}</a:tableStyleId>
              </a:tblPr>
              <a:tblGrid>
                <a:gridCol w="304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18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Paper Title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Robust Disaster Assessment from Aerial Imagery Using Text-to-Image Synthetic Data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Author(s)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Tarun Kalluri, Jihyeon Lee, et al. (Google Research / UC San Diego)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Main Goal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Leverage generative models to synthesize training data for under-resourced regions.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Damage Event / Year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Multi-hazard (Hurricanes Ian/Maria, Nepal Floods, etc.) | 2024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Published Journal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CVPR Workshops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Dataset Type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Text-to-image synthesized images derived from xBD and SKAI assets.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Annotation Tool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MUSE (Masked Transformer) text-to-image pipeline based on prompt guidance.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Imbalance Management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Generative Data Expansion: Artificially balancing rare "damaged" cases with AI synthesis.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Classification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Binary: Damaged vs. Undamaged (labels mapped directly from textual prompts).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Dataset Split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Cross-Geography Leave-One-Domain-Out Split (evaluating on unseen regions).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38" name="Google Shape;238;p19"/>
          <p:cNvSpPr/>
          <p:nvPr/>
        </p:nvSpPr>
        <p:spPr>
          <a:xfrm>
            <a:off x="666750" y="2075854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9"/>
          <p:cNvSpPr/>
          <p:nvPr/>
        </p:nvSpPr>
        <p:spPr>
          <a:xfrm>
            <a:off x="3707010" y="2085379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9"/>
          <p:cNvSpPr/>
          <p:nvPr/>
        </p:nvSpPr>
        <p:spPr>
          <a:xfrm>
            <a:off x="666750" y="2498675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9"/>
          <p:cNvSpPr/>
          <p:nvPr/>
        </p:nvSpPr>
        <p:spPr>
          <a:xfrm>
            <a:off x="3707010" y="2508200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9"/>
          <p:cNvSpPr/>
          <p:nvPr/>
        </p:nvSpPr>
        <p:spPr>
          <a:xfrm>
            <a:off x="666750" y="2921496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9"/>
          <p:cNvSpPr/>
          <p:nvPr/>
        </p:nvSpPr>
        <p:spPr>
          <a:xfrm>
            <a:off x="3707010" y="2931021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9"/>
          <p:cNvSpPr/>
          <p:nvPr/>
        </p:nvSpPr>
        <p:spPr>
          <a:xfrm>
            <a:off x="666750" y="3344316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9"/>
          <p:cNvSpPr/>
          <p:nvPr/>
        </p:nvSpPr>
        <p:spPr>
          <a:xfrm>
            <a:off x="3707010" y="3353841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9"/>
          <p:cNvSpPr/>
          <p:nvPr/>
        </p:nvSpPr>
        <p:spPr>
          <a:xfrm>
            <a:off x="666750" y="3767137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9"/>
          <p:cNvSpPr/>
          <p:nvPr/>
        </p:nvSpPr>
        <p:spPr>
          <a:xfrm>
            <a:off x="3707010" y="3776662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9"/>
          <p:cNvSpPr/>
          <p:nvPr/>
        </p:nvSpPr>
        <p:spPr>
          <a:xfrm>
            <a:off x="666750" y="4189958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9"/>
          <p:cNvSpPr/>
          <p:nvPr/>
        </p:nvSpPr>
        <p:spPr>
          <a:xfrm>
            <a:off x="3707010" y="4199483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9"/>
          <p:cNvSpPr/>
          <p:nvPr/>
        </p:nvSpPr>
        <p:spPr>
          <a:xfrm>
            <a:off x="666750" y="4612778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9"/>
          <p:cNvSpPr/>
          <p:nvPr/>
        </p:nvSpPr>
        <p:spPr>
          <a:xfrm>
            <a:off x="3707010" y="4622303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9"/>
          <p:cNvSpPr/>
          <p:nvPr/>
        </p:nvSpPr>
        <p:spPr>
          <a:xfrm>
            <a:off x="666750" y="5035599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9"/>
          <p:cNvSpPr/>
          <p:nvPr/>
        </p:nvSpPr>
        <p:spPr>
          <a:xfrm>
            <a:off x="3707010" y="5045124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9"/>
          <p:cNvSpPr/>
          <p:nvPr/>
        </p:nvSpPr>
        <p:spPr>
          <a:xfrm>
            <a:off x="666750" y="5458420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9"/>
          <p:cNvSpPr/>
          <p:nvPr/>
        </p:nvSpPr>
        <p:spPr>
          <a:xfrm>
            <a:off x="3707010" y="5467945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9"/>
          <p:cNvSpPr/>
          <p:nvPr/>
        </p:nvSpPr>
        <p:spPr>
          <a:xfrm>
            <a:off x="666750" y="5881241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9"/>
          <p:cNvSpPr txBox="1"/>
          <p:nvPr/>
        </p:nvSpPr>
        <p:spPr>
          <a:xfrm>
            <a:off x="666750" y="824358"/>
            <a:ext cx="1140142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Paper 6: Robust Disaster Assessment</a:t>
            </a:r>
            <a:endParaRPr/>
          </a:p>
        </p:txBody>
      </p:sp>
      <p:sp>
        <p:nvSpPr>
          <p:cNvPr id="258" name="Google Shape;258;p19"/>
          <p:cNvSpPr/>
          <p:nvPr/>
        </p:nvSpPr>
        <p:spPr>
          <a:xfrm>
            <a:off x="666750" y="1376808"/>
            <a:ext cx="108585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0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5" name="Google Shape;265;p20"/>
          <p:cNvGraphicFramePr/>
          <p:nvPr/>
        </p:nvGraphicFramePr>
        <p:xfrm>
          <a:off x="666750" y="1681608"/>
          <a:ext cx="10858500" cy="4228250"/>
        </p:xfrm>
        <a:graphic>
          <a:graphicData uri="http://schemas.openxmlformats.org/drawingml/2006/table">
            <a:tbl>
              <a:tblPr firstRow="1" bandRow="1">
                <a:noFill/>
                <a:tableStyleId>{08A915FA-02E7-457C-986E-7FB5CE50CD2B}</a:tableStyleId>
              </a:tblPr>
              <a:tblGrid>
                <a:gridCol w="304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18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Paper Title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Attention Based Semantic Segmentation on UAV Dataset for Damage Assessment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Author(s)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Tashnim Chowdhury, Maryam Rahnemoonfar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Main Goal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Capture global contextual dependencies via self-attention (ReDNet) for pixel-level accuracy.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Damage Event / Year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Hurricane Michael | 2021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Published Journal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IEEE IGARSS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Dataset Type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HRUD (High-Resolution UAV Dataset); 3000x4000 pixels at 200ft AGL.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Annotation Tool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V7 Darwin manual structural masking (raster vectors).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Imbalance Management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Position Attention Modules (PAM) to link textures (debris vs. sand) across layers.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Classification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 Categories: Debris, Water, Vehicle, Road, Tree, Sand, Unlabeled, Building.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Dataset Split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80% Training / 10% Validation / 10% Testing.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66" name="Google Shape;266;p20"/>
          <p:cNvSpPr/>
          <p:nvPr/>
        </p:nvSpPr>
        <p:spPr>
          <a:xfrm>
            <a:off x="666750" y="2075854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0"/>
          <p:cNvSpPr/>
          <p:nvPr/>
        </p:nvSpPr>
        <p:spPr>
          <a:xfrm>
            <a:off x="3707010" y="2085379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0"/>
          <p:cNvSpPr/>
          <p:nvPr/>
        </p:nvSpPr>
        <p:spPr>
          <a:xfrm>
            <a:off x="666750" y="2498675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0"/>
          <p:cNvSpPr/>
          <p:nvPr/>
        </p:nvSpPr>
        <p:spPr>
          <a:xfrm>
            <a:off x="3707010" y="2508200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0"/>
          <p:cNvSpPr/>
          <p:nvPr/>
        </p:nvSpPr>
        <p:spPr>
          <a:xfrm>
            <a:off x="666750" y="2921496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0"/>
          <p:cNvSpPr/>
          <p:nvPr/>
        </p:nvSpPr>
        <p:spPr>
          <a:xfrm>
            <a:off x="3707010" y="2931021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0"/>
          <p:cNvSpPr/>
          <p:nvPr/>
        </p:nvSpPr>
        <p:spPr>
          <a:xfrm>
            <a:off x="666750" y="3344316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0"/>
          <p:cNvSpPr/>
          <p:nvPr/>
        </p:nvSpPr>
        <p:spPr>
          <a:xfrm>
            <a:off x="3707010" y="3353841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0"/>
          <p:cNvSpPr/>
          <p:nvPr/>
        </p:nvSpPr>
        <p:spPr>
          <a:xfrm>
            <a:off x="666750" y="3767137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0"/>
          <p:cNvSpPr/>
          <p:nvPr/>
        </p:nvSpPr>
        <p:spPr>
          <a:xfrm>
            <a:off x="3707010" y="3776662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0"/>
          <p:cNvSpPr/>
          <p:nvPr/>
        </p:nvSpPr>
        <p:spPr>
          <a:xfrm>
            <a:off x="666750" y="4189958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0"/>
          <p:cNvSpPr/>
          <p:nvPr/>
        </p:nvSpPr>
        <p:spPr>
          <a:xfrm>
            <a:off x="3707010" y="4199483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0"/>
          <p:cNvSpPr/>
          <p:nvPr/>
        </p:nvSpPr>
        <p:spPr>
          <a:xfrm>
            <a:off x="666750" y="4612778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0"/>
          <p:cNvSpPr/>
          <p:nvPr/>
        </p:nvSpPr>
        <p:spPr>
          <a:xfrm>
            <a:off x="3707010" y="4622303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0"/>
          <p:cNvSpPr/>
          <p:nvPr/>
        </p:nvSpPr>
        <p:spPr>
          <a:xfrm>
            <a:off x="666750" y="5035599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0"/>
          <p:cNvSpPr/>
          <p:nvPr/>
        </p:nvSpPr>
        <p:spPr>
          <a:xfrm>
            <a:off x="3707010" y="5045124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0"/>
          <p:cNvSpPr/>
          <p:nvPr/>
        </p:nvSpPr>
        <p:spPr>
          <a:xfrm>
            <a:off x="666750" y="5458420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0"/>
          <p:cNvSpPr/>
          <p:nvPr/>
        </p:nvSpPr>
        <p:spPr>
          <a:xfrm>
            <a:off x="3707010" y="5467945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0"/>
          <p:cNvSpPr/>
          <p:nvPr/>
        </p:nvSpPr>
        <p:spPr>
          <a:xfrm>
            <a:off x="666750" y="5881241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0"/>
          <p:cNvSpPr txBox="1"/>
          <p:nvPr/>
        </p:nvSpPr>
        <p:spPr>
          <a:xfrm>
            <a:off x="666750" y="824358"/>
            <a:ext cx="1140142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Paper 7: Attention Based Segmentation</a:t>
            </a:r>
            <a:endParaRPr/>
          </a:p>
        </p:txBody>
      </p:sp>
      <p:sp>
        <p:nvSpPr>
          <p:cNvPr id="286" name="Google Shape;286;p20"/>
          <p:cNvSpPr/>
          <p:nvPr/>
        </p:nvSpPr>
        <p:spPr>
          <a:xfrm>
            <a:off x="666750" y="1376808"/>
            <a:ext cx="108585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1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3" name="Google Shape;293;p21"/>
          <p:cNvGraphicFramePr/>
          <p:nvPr/>
        </p:nvGraphicFramePr>
        <p:xfrm>
          <a:off x="666750" y="1681608"/>
          <a:ext cx="10858500" cy="4228250"/>
        </p:xfrm>
        <a:graphic>
          <a:graphicData uri="http://schemas.openxmlformats.org/drawingml/2006/table">
            <a:tbl>
              <a:tblPr firstRow="1" bandRow="1">
                <a:noFill/>
                <a:tableStyleId>{08A915FA-02E7-457C-986E-7FB5CE50CD2B}</a:tableStyleId>
              </a:tblPr>
              <a:tblGrid>
                <a:gridCol w="304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18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Paper Title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Building Disaster Damage Assessment in Satellite Imagery with Multi-Temporal Fusion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Author(s)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Ethan Weber and Hassan Kan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Main Goal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Optimize shared-weight CNN backbones for identifying subtle temporal changes in buildings.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Damage Event / Year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16 Global Locations (from xBD) | 2020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Published Journal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ICLR Workshops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Dataset Type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WorldView-3 multi-temporal satellite imagery (0.3m resolution).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Annotation Tool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Programmatic Polygon-to-Semantic conversion from xBD vector coordinates.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Imbalance Management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Class-Inverse Cross-Entropy Loss Weighting + 512x512 quadrant quadrant tiling.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Classification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5-Class: Background, Undamaged, Minor, Major, Destroyed.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Dataset Split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80% Training / 10% Validation / 10% Testing.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94" name="Google Shape;294;p21"/>
          <p:cNvSpPr/>
          <p:nvPr/>
        </p:nvSpPr>
        <p:spPr>
          <a:xfrm>
            <a:off x="666750" y="2075854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1"/>
          <p:cNvSpPr/>
          <p:nvPr/>
        </p:nvSpPr>
        <p:spPr>
          <a:xfrm>
            <a:off x="3707010" y="2085379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1"/>
          <p:cNvSpPr/>
          <p:nvPr/>
        </p:nvSpPr>
        <p:spPr>
          <a:xfrm>
            <a:off x="666750" y="2498675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1"/>
          <p:cNvSpPr/>
          <p:nvPr/>
        </p:nvSpPr>
        <p:spPr>
          <a:xfrm>
            <a:off x="3707010" y="2508200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1"/>
          <p:cNvSpPr/>
          <p:nvPr/>
        </p:nvSpPr>
        <p:spPr>
          <a:xfrm>
            <a:off x="666750" y="2921496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1"/>
          <p:cNvSpPr/>
          <p:nvPr/>
        </p:nvSpPr>
        <p:spPr>
          <a:xfrm>
            <a:off x="3707010" y="2931021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1"/>
          <p:cNvSpPr/>
          <p:nvPr/>
        </p:nvSpPr>
        <p:spPr>
          <a:xfrm>
            <a:off x="666750" y="3344316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1"/>
          <p:cNvSpPr/>
          <p:nvPr/>
        </p:nvSpPr>
        <p:spPr>
          <a:xfrm>
            <a:off x="3707010" y="3353841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1"/>
          <p:cNvSpPr/>
          <p:nvPr/>
        </p:nvSpPr>
        <p:spPr>
          <a:xfrm>
            <a:off x="666750" y="3767137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1"/>
          <p:cNvSpPr/>
          <p:nvPr/>
        </p:nvSpPr>
        <p:spPr>
          <a:xfrm>
            <a:off x="3707010" y="3776662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1"/>
          <p:cNvSpPr/>
          <p:nvPr/>
        </p:nvSpPr>
        <p:spPr>
          <a:xfrm>
            <a:off x="666750" y="4189958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1"/>
          <p:cNvSpPr/>
          <p:nvPr/>
        </p:nvSpPr>
        <p:spPr>
          <a:xfrm>
            <a:off x="3707010" y="4199483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1"/>
          <p:cNvSpPr/>
          <p:nvPr/>
        </p:nvSpPr>
        <p:spPr>
          <a:xfrm>
            <a:off x="666750" y="4612778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1"/>
          <p:cNvSpPr/>
          <p:nvPr/>
        </p:nvSpPr>
        <p:spPr>
          <a:xfrm>
            <a:off x="3707010" y="4622303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1"/>
          <p:cNvSpPr/>
          <p:nvPr/>
        </p:nvSpPr>
        <p:spPr>
          <a:xfrm>
            <a:off x="666750" y="5035599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1"/>
          <p:cNvSpPr/>
          <p:nvPr/>
        </p:nvSpPr>
        <p:spPr>
          <a:xfrm>
            <a:off x="3707010" y="5045124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1"/>
          <p:cNvSpPr/>
          <p:nvPr/>
        </p:nvSpPr>
        <p:spPr>
          <a:xfrm>
            <a:off x="666750" y="5458420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1"/>
          <p:cNvSpPr/>
          <p:nvPr/>
        </p:nvSpPr>
        <p:spPr>
          <a:xfrm>
            <a:off x="3707010" y="5467945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1"/>
          <p:cNvSpPr/>
          <p:nvPr/>
        </p:nvSpPr>
        <p:spPr>
          <a:xfrm>
            <a:off x="666750" y="5881241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1"/>
          <p:cNvSpPr txBox="1"/>
          <p:nvPr/>
        </p:nvSpPr>
        <p:spPr>
          <a:xfrm>
            <a:off x="666750" y="824358"/>
            <a:ext cx="1140142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Paper 8: Multi-Temporal Fusion</a:t>
            </a:r>
            <a:endParaRPr/>
          </a:p>
        </p:txBody>
      </p:sp>
      <p:sp>
        <p:nvSpPr>
          <p:cNvPr id="314" name="Google Shape;314;p21"/>
          <p:cNvSpPr/>
          <p:nvPr/>
        </p:nvSpPr>
        <p:spPr>
          <a:xfrm>
            <a:off x="666750" y="1376808"/>
            <a:ext cx="108585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1" name="Google Shape;321;p22"/>
          <p:cNvGraphicFramePr/>
          <p:nvPr/>
        </p:nvGraphicFramePr>
        <p:xfrm>
          <a:off x="666750" y="1681608"/>
          <a:ext cx="10858500" cy="4228250"/>
        </p:xfrm>
        <a:graphic>
          <a:graphicData uri="http://schemas.openxmlformats.org/drawingml/2006/table">
            <a:tbl>
              <a:tblPr firstRow="1" bandRow="1">
                <a:noFill/>
                <a:tableStyleId>{08A915FA-02E7-457C-986E-7FB5CE50CD2B}</a:tableStyleId>
              </a:tblPr>
              <a:tblGrid>
                <a:gridCol w="304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18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Paper Title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Cross-directional Feature Fusion Network for Building Damage Assessment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Author(s)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Yu Shen, Sijie Zhu, et al.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Main Goal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Model correlations between pre/post-disaster features via channel-spatial attention blocks.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Damage Event / Year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Global disasters (Hurricanes, Earthquakes, Wildfires) | 2020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Published Journal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NeurIPS Workshops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Dataset Type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1024x1024 multi-temporal satellite pairs from xBD repository.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Annotation Tool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Automatic raster mask conversion using xBD ground-truth polygon indices.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Imbalance Management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Hard-Class CutMix: Cropping and pasting rare damage classes onto random backgrounds.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Classification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Joint 5-Class Evaluation Ontology (Background through Destroyed).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Dataset Split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Standard xBD volume (18,336 Train / 1,866 Valid / 1,866 Test pairs).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22" name="Google Shape;322;p22"/>
          <p:cNvSpPr/>
          <p:nvPr/>
        </p:nvSpPr>
        <p:spPr>
          <a:xfrm>
            <a:off x="666750" y="2075854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2"/>
          <p:cNvSpPr/>
          <p:nvPr/>
        </p:nvSpPr>
        <p:spPr>
          <a:xfrm>
            <a:off x="3707010" y="2085379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2"/>
          <p:cNvSpPr/>
          <p:nvPr/>
        </p:nvSpPr>
        <p:spPr>
          <a:xfrm>
            <a:off x="666750" y="2498675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2"/>
          <p:cNvSpPr/>
          <p:nvPr/>
        </p:nvSpPr>
        <p:spPr>
          <a:xfrm>
            <a:off x="3707010" y="2508200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2"/>
          <p:cNvSpPr/>
          <p:nvPr/>
        </p:nvSpPr>
        <p:spPr>
          <a:xfrm>
            <a:off x="666750" y="2921496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2"/>
          <p:cNvSpPr/>
          <p:nvPr/>
        </p:nvSpPr>
        <p:spPr>
          <a:xfrm>
            <a:off x="3707010" y="2931021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2"/>
          <p:cNvSpPr/>
          <p:nvPr/>
        </p:nvSpPr>
        <p:spPr>
          <a:xfrm>
            <a:off x="666750" y="3344316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2"/>
          <p:cNvSpPr/>
          <p:nvPr/>
        </p:nvSpPr>
        <p:spPr>
          <a:xfrm>
            <a:off x="3707010" y="3353841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2"/>
          <p:cNvSpPr/>
          <p:nvPr/>
        </p:nvSpPr>
        <p:spPr>
          <a:xfrm>
            <a:off x="666750" y="3767137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2"/>
          <p:cNvSpPr/>
          <p:nvPr/>
        </p:nvSpPr>
        <p:spPr>
          <a:xfrm>
            <a:off x="3707010" y="3776662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2"/>
          <p:cNvSpPr/>
          <p:nvPr/>
        </p:nvSpPr>
        <p:spPr>
          <a:xfrm>
            <a:off x="666750" y="4189958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2"/>
          <p:cNvSpPr/>
          <p:nvPr/>
        </p:nvSpPr>
        <p:spPr>
          <a:xfrm>
            <a:off x="3707010" y="4199483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2"/>
          <p:cNvSpPr/>
          <p:nvPr/>
        </p:nvSpPr>
        <p:spPr>
          <a:xfrm>
            <a:off x="666750" y="4612778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2"/>
          <p:cNvSpPr/>
          <p:nvPr/>
        </p:nvSpPr>
        <p:spPr>
          <a:xfrm>
            <a:off x="3707010" y="4622303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2"/>
          <p:cNvSpPr/>
          <p:nvPr/>
        </p:nvSpPr>
        <p:spPr>
          <a:xfrm>
            <a:off x="666750" y="5035599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2"/>
          <p:cNvSpPr/>
          <p:nvPr/>
        </p:nvSpPr>
        <p:spPr>
          <a:xfrm>
            <a:off x="3707010" y="5045124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2"/>
          <p:cNvSpPr/>
          <p:nvPr/>
        </p:nvSpPr>
        <p:spPr>
          <a:xfrm>
            <a:off x="666750" y="5458420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2"/>
          <p:cNvSpPr/>
          <p:nvPr/>
        </p:nvSpPr>
        <p:spPr>
          <a:xfrm>
            <a:off x="3707010" y="5467945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2"/>
          <p:cNvSpPr/>
          <p:nvPr/>
        </p:nvSpPr>
        <p:spPr>
          <a:xfrm>
            <a:off x="666750" y="5881241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2"/>
          <p:cNvSpPr txBox="1"/>
          <p:nvPr/>
        </p:nvSpPr>
        <p:spPr>
          <a:xfrm>
            <a:off x="666750" y="824358"/>
            <a:ext cx="1140142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Paper 9: Cross-directional Feature Fusion</a:t>
            </a:r>
            <a:endParaRPr/>
          </a:p>
        </p:txBody>
      </p:sp>
      <p:sp>
        <p:nvSpPr>
          <p:cNvPr id="342" name="Google Shape;342;p22"/>
          <p:cNvSpPr/>
          <p:nvPr/>
        </p:nvSpPr>
        <p:spPr>
          <a:xfrm>
            <a:off x="666750" y="1376808"/>
            <a:ext cx="108585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23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49" name="Google Shape;349;p23"/>
          <p:cNvGraphicFramePr/>
          <p:nvPr/>
        </p:nvGraphicFramePr>
        <p:xfrm>
          <a:off x="666750" y="1681608"/>
          <a:ext cx="10858500" cy="4228250"/>
        </p:xfrm>
        <a:graphic>
          <a:graphicData uri="http://schemas.openxmlformats.org/drawingml/2006/table">
            <a:tbl>
              <a:tblPr firstRow="1" bandRow="1">
                <a:noFill/>
                <a:tableStyleId>{08A915FA-02E7-457C-986E-7FB5CE50CD2B}</a:tableStyleId>
              </a:tblPr>
              <a:tblGrid>
                <a:gridCol w="304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18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Paper Title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Rapid building damage assessment workflow: Rolling Fork, MS tornado event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Author(s)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Caleb Robinson, et al. (Microsoft Research / Red Cross)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Main Goal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Validate a human-in-the-loop workflow that works with *only* post-disaster imagery.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Damage Event / Year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Rolling Fork, MS Tornado (EF4) | 2023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Published Journal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IEEE ICCV Workshops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Dataset Type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Planet Labs SkySat high-resolution post-disaster imagery.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Annotation Tool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Microsoft Satellite Imagery Labeling Tool (GitHub).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Imbalance Management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Few-Shot Active Learning: Initial seed of ~100 localized labels refined iteratively.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Classification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Object-level Damage Decimals (percentage area damaged per building footprint).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Dataset Split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Seed set for training (~153), validated on 1,347 local buildings.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50" name="Google Shape;350;p23"/>
          <p:cNvSpPr/>
          <p:nvPr/>
        </p:nvSpPr>
        <p:spPr>
          <a:xfrm>
            <a:off x="666750" y="2075854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3"/>
          <p:cNvSpPr/>
          <p:nvPr/>
        </p:nvSpPr>
        <p:spPr>
          <a:xfrm>
            <a:off x="3707010" y="2085379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3"/>
          <p:cNvSpPr/>
          <p:nvPr/>
        </p:nvSpPr>
        <p:spPr>
          <a:xfrm>
            <a:off x="666750" y="2498675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3"/>
          <p:cNvSpPr/>
          <p:nvPr/>
        </p:nvSpPr>
        <p:spPr>
          <a:xfrm>
            <a:off x="3707010" y="2508200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3"/>
          <p:cNvSpPr/>
          <p:nvPr/>
        </p:nvSpPr>
        <p:spPr>
          <a:xfrm>
            <a:off x="666750" y="2921496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3"/>
          <p:cNvSpPr/>
          <p:nvPr/>
        </p:nvSpPr>
        <p:spPr>
          <a:xfrm>
            <a:off x="3707010" y="2931021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3"/>
          <p:cNvSpPr/>
          <p:nvPr/>
        </p:nvSpPr>
        <p:spPr>
          <a:xfrm>
            <a:off x="666750" y="3344316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3"/>
          <p:cNvSpPr/>
          <p:nvPr/>
        </p:nvSpPr>
        <p:spPr>
          <a:xfrm>
            <a:off x="3707010" y="3353841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3"/>
          <p:cNvSpPr/>
          <p:nvPr/>
        </p:nvSpPr>
        <p:spPr>
          <a:xfrm>
            <a:off x="666750" y="3767137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3"/>
          <p:cNvSpPr/>
          <p:nvPr/>
        </p:nvSpPr>
        <p:spPr>
          <a:xfrm>
            <a:off x="3707010" y="3776662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3"/>
          <p:cNvSpPr/>
          <p:nvPr/>
        </p:nvSpPr>
        <p:spPr>
          <a:xfrm>
            <a:off x="666750" y="4189958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3"/>
          <p:cNvSpPr/>
          <p:nvPr/>
        </p:nvSpPr>
        <p:spPr>
          <a:xfrm>
            <a:off x="3707010" y="4199483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3"/>
          <p:cNvSpPr/>
          <p:nvPr/>
        </p:nvSpPr>
        <p:spPr>
          <a:xfrm>
            <a:off x="666750" y="4612778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3"/>
          <p:cNvSpPr/>
          <p:nvPr/>
        </p:nvSpPr>
        <p:spPr>
          <a:xfrm>
            <a:off x="3707010" y="4622303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3"/>
          <p:cNvSpPr/>
          <p:nvPr/>
        </p:nvSpPr>
        <p:spPr>
          <a:xfrm>
            <a:off x="666750" y="5035599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3"/>
          <p:cNvSpPr/>
          <p:nvPr/>
        </p:nvSpPr>
        <p:spPr>
          <a:xfrm>
            <a:off x="3707010" y="5045124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3"/>
          <p:cNvSpPr/>
          <p:nvPr/>
        </p:nvSpPr>
        <p:spPr>
          <a:xfrm>
            <a:off x="666750" y="5458420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3"/>
          <p:cNvSpPr/>
          <p:nvPr/>
        </p:nvSpPr>
        <p:spPr>
          <a:xfrm>
            <a:off x="3707010" y="5467945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3"/>
          <p:cNvSpPr/>
          <p:nvPr/>
        </p:nvSpPr>
        <p:spPr>
          <a:xfrm>
            <a:off x="666750" y="5881241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3"/>
          <p:cNvSpPr txBox="1"/>
          <p:nvPr/>
        </p:nvSpPr>
        <p:spPr>
          <a:xfrm>
            <a:off x="666750" y="824358"/>
            <a:ext cx="1140142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Paper 10: Rapid Damage Assessment Workflow</a:t>
            </a:r>
            <a:endParaRPr/>
          </a:p>
        </p:txBody>
      </p:sp>
      <p:sp>
        <p:nvSpPr>
          <p:cNvPr id="370" name="Google Shape;370;p23"/>
          <p:cNvSpPr/>
          <p:nvPr/>
        </p:nvSpPr>
        <p:spPr>
          <a:xfrm>
            <a:off x="666750" y="1376808"/>
            <a:ext cx="108585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5" name="Google Shape;375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24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77" name="Google Shape;377;p24"/>
          <p:cNvGraphicFramePr/>
          <p:nvPr/>
        </p:nvGraphicFramePr>
        <p:xfrm>
          <a:off x="666750" y="1681608"/>
          <a:ext cx="10858500" cy="4228250"/>
        </p:xfrm>
        <a:graphic>
          <a:graphicData uri="http://schemas.openxmlformats.org/drawingml/2006/table">
            <a:tbl>
              <a:tblPr firstRow="1" bandRow="1">
                <a:noFill/>
                <a:tableStyleId>{08A915FA-02E7-457C-986E-7FB5CE50CD2B}</a:tableStyleId>
              </a:tblPr>
              <a:tblGrid>
                <a:gridCol w="304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18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Paper Title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xBD: A Dataset for Assessing Building Damage from Satellite Imagery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Author(s)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Ritwik Gupta, Richard Hosfelt, Sandra Sajeev, et al.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Main Goal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Establish the definitive global satellite benchmark with standard Joint Damage Scales.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Damage Event / Year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19 events in 2 Tiers (Hurricanes, Volcano, Tsunami, Fire, etc.) | 2019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Published Journal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arXiv (Computer Vision and Pattern Recognition, cs.CV)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Dataset Type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Satellite EO RGB imagery (&lt;0.8m GSD) from Maxar Open Data.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Annotation Tool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Web-based custom polygon labeling interface developed by CrowdAI.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Imbalance Management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Negative Imagery Calibration (large buffer areas) + Weighted F1 Scores.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Classification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4-level Scale: Level 0 (No Damage) to Level 3 (Destroyed) + Contextual Overlays.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Dataset Split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80% Training / 10% Public Test / 10% Private Holdout.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78" name="Google Shape;378;p24"/>
          <p:cNvSpPr/>
          <p:nvPr/>
        </p:nvSpPr>
        <p:spPr>
          <a:xfrm>
            <a:off x="666750" y="2075854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4"/>
          <p:cNvSpPr/>
          <p:nvPr/>
        </p:nvSpPr>
        <p:spPr>
          <a:xfrm>
            <a:off x="3707010" y="2085379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4"/>
          <p:cNvSpPr/>
          <p:nvPr/>
        </p:nvSpPr>
        <p:spPr>
          <a:xfrm>
            <a:off x="666750" y="2498675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4"/>
          <p:cNvSpPr/>
          <p:nvPr/>
        </p:nvSpPr>
        <p:spPr>
          <a:xfrm>
            <a:off x="3707010" y="2508200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4"/>
          <p:cNvSpPr/>
          <p:nvPr/>
        </p:nvSpPr>
        <p:spPr>
          <a:xfrm>
            <a:off x="666750" y="2921496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4"/>
          <p:cNvSpPr/>
          <p:nvPr/>
        </p:nvSpPr>
        <p:spPr>
          <a:xfrm>
            <a:off x="3707010" y="2931021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4"/>
          <p:cNvSpPr/>
          <p:nvPr/>
        </p:nvSpPr>
        <p:spPr>
          <a:xfrm>
            <a:off x="666750" y="3344316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4"/>
          <p:cNvSpPr/>
          <p:nvPr/>
        </p:nvSpPr>
        <p:spPr>
          <a:xfrm>
            <a:off x="3707010" y="3353841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4"/>
          <p:cNvSpPr/>
          <p:nvPr/>
        </p:nvSpPr>
        <p:spPr>
          <a:xfrm>
            <a:off x="666750" y="3767137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4"/>
          <p:cNvSpPr/>
          <p:nvPr/>
        </p:nvSpPr>
        <p:spPr>
          <a:xfrm>
            <a:off x="3707010" y="3776662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4"/>
          <p:cNvSpPr/>
          <p:nvPr/>
        </p:nvSpPr>
        <p:spPr>
          <a:xfrm>
            <a:off x="666750" y="4189958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4"/>
          <p:cNvSpPr/>
          <p:nvPr/>
        </p:nvSpPr>
        <p:spPr>
          <a:xfrm>
            <a:off x="3707010" y="4199483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4"/>
          <p:cNvSpPr/>
          <p:nvPr/>
        </p:nvSpPr>
        <p:spPr>
          <a:xfrm>
            <a:off x="666750" y="4612778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4"/>
          <p:cNvSpPr/>
          <p:nvPr/>
        </p:nvSpPr>
        <p:spPr>
          <a:xfrm>
            <a:off x="3707010" y="4622303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4"/>
          <p:cNvSpPr/>
          <p:nvPr/>
        </p:nvSpPr>
        <p:spPr>
          <a:xfrm>
            <a:off x="666750" y="5035599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4"/>
          <p:cNvSpPr/>
          <p:nvPr/>
        </p:nvSpPr>
        <p:spPr>
          <a:xfrm>
            <a:off x="3707010" y="5045124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4"/>
          <p:cNvSpPr/>
          <p:nvPr/>
        </p:nvSpPr>
        <p:spPr>
          <a:xfrm>
            <a:off x="666750" y="5458420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4"/>
          <p:cNvSpPr/>
          <p:nvPr/>
        </p:nvSpPr>
        <p:spPr>
          <a:xfrm>
            <a:off x="3707010" y="5467945"/>
            <a:ext cx="781823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4"/>
          <p:cNvSpPr/>
          <p:nvPr/>
        </p:nvSpPr>
        <p:spPr>
          <a:xfrm>
            <a:off x="666750" y="5881241"/>
            <a:ext cx="304026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4"/>
          <p:cNvSpPr txBox="1"/>
          <p:nvPr/>
        </p:nvSpPr>
        <p:spPr>
          <a:xfrm>
            <a:off x="666750" y="824358"/>
            <a:ext cx="1140142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Paper 11: xBD Foundational Framework</a:t>
            </a:r>
            <a:endParaRPr/>
          </a:p>
        </p:txBody>
      </p:sp>
      <p:sp>
        <p:nvSpPr>
          <p:cNvPr id="398" name="Google Shape;398;p24"/>
          <p:cNvSpPr/>
          <p:nvPr/>
        </p:nvSpPr>
        <p:spPr>
          <a:xfrm>
            <a:off x="666750" y="1376808"/>
            <a:ext cx="108585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1568</Words>
  <Application>Microsoft Office PowerPoint</Application>
  <PresentationFormat>Widescreen</PresentationFormat>
  <Paragraphs>235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Poppins</vt:lpstr>
      <vt:lpstr>Calibri</vt:lpstr>
      <vt:lpstr>Lato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K. SELVAKUMAR</cp:lastModifiedBy>
  <cp:revision>1</cp:revision>
  <dcterms:modified xsi:type="dcterms:W3CDTF">2026-05-20T02:57:34Z</dcterms:modified>
</cp:coreProperties>
</file>